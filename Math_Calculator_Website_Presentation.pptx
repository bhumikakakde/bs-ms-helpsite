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24912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1648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752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0224" y="9144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24912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488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74980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08176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66544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58384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3488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50224" y="140817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08176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66544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24912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41648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8384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33488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91856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50224" y="2066544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08176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66544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24912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41648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58384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6752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33488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91856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50224" y="2724912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08176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66544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4912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1648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00016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58384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6752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33488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91856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0224" y="3383280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08176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66544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24912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41648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0016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58384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6752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488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91856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650224" y="4041648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440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8176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66544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24912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41648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00016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58384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16752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33488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91856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50224" y="4700016"/>
            <a:ext cx="36576" cy="36576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40080" y="1463040"/>
            <a:ext cx="64008" cy="2377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43600" y="45720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C9A227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</a:t>
            </a:r>
            <a:endParaRPr lang="en-US" sz="26000" dirty="0"/>
          </a:p>
        </p:txBody>
      </p:sp>
      <p:sp>
        <p:nvSpPr>
          <p:cNvPr id="116" name="Text 114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TOOL  ·  MATHEMATICS DEPARTMENT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22960" y="17373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/ MS Mathematics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Calculator</a:t>
            </a:r>
            <a:endParaRPr lang="en-US" sz="4400" dirty="0"/>
          </a:p>
        </p:txBody>
      </p:sp>
      <p:sp>
        <p:nvSpPr>
          <p:cNvPr id="118" name="Text 116"/>
          <p:cNvSpPr/>
          <p:nvPr/>
        </p:nvSpPr>
        <p:spPr>
          <a:xfrm>
            <a:off x="8229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· CGPA · Credit Hours · Degree Planner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161D30"/>
          </a:solidFill>
          <a:ln w="12700">
            <a:solidFill>
              <a:srgbClr val="161D3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  ∂  ∇  ∞  π  θ  λ  μ  σ  Φ  Ω  Σ  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256032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86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comprehensive, browser-based academic tool designed for BS and MS Mathematics students to track, plan, and optimize their academic journey.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data stored. Pure frontend.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411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Purpose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0" y="96012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1097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Semester GPA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1307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courses, credits &amp; grades to get instant GPA with standing classification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947672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77640" y="20848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2039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Cumulative GPA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29514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multiple semesters and plan target CGPA for graduation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935224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30723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0266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Credit Progress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32826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how many credits remain across each degree category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3922776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77640" y="405993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Grade Scales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270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4.0 grade point table with academic standing guide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Powerful Tabs, One Calculator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5727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2296" cy="15727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66160" y="14630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GPA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" y="1810512"/>
            <a:ext cx="38587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unlimited courses with name, credit hours &amp; grade. Instant quality-point calculation per course.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252374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= ΣQP / ΣCH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4114800" cy="15727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80160"/>
            <a:ext cx="82296" cy="15727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46720" y="14630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50408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Calculator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74336" y="1810512"/>
            <a:ext cx="38587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semester-wise GPA &amp; credits. Includes a What-If planner to calculate required future GPA.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74336" y="252374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Multi-semester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114800" cy="15727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82296" cy="157276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6160" y="31089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9848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Progress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" y="3456432"/>
            <a:ext cx="38587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credit bar charts for BS (130 CH) and MS (36 CH) with live graduation progress.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416966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tracker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4114800" cy="15727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926080"/>
            <a:ext cx="82296" cy="15727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046720" y="31089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0408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Reference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74336" y="3456432"/>
            <a:ext cx="38587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4.0 grade scale, A+ to F. Academic standing guide and degree requirement comparison.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74336" y="416966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guide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  SEMESTER GPA CALCULATOR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GPA = Σ(Grade Points × Credit Hours) / Σ(Credit Hours)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70992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09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Courses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course name, credit hours (1–6), and select letter grade from A+ to 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Calculation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743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points and quality points update instantly for every course 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5584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55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3310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GPA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566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gold button — GPA, total credits &amp; quality points appear instantly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17880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78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Standing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standing (e.g. Summa Cum Laude) and a visual GPA bar appear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1143000"/>
            <a:ext cx="374904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16276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16276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16276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66360" y="1911096"/>
            <a:ext cx="3566160" cy="457200"/>
          </a:xfrm>
          <a:prstGeom prst="rect">
            <a:avLst/>
          </a:prstGeom>
          <a:solidFill>
            <a:srgbClr val="161D30"/>
          </a:solidFill>
          <a:ln w="12700">
            <a:solidFill>
              <a:srgbClr val="161D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95681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Analysis 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19568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31152" y="195681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62672" y="195681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2386584"/>
            <a:ext cx="3566160" cy="457200"/>
          </a:xfrm>
          <a:prstGeom prst="rect">
            <a:avLst/>
          </a:prstGeom>
          <a:solidFill>
            <a:srgbClr val="1E2740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243230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Algebra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31152" y="243230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62672" y="24323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66360" y="2862072"/>
            <a:ext cx="3566160" cy="457200"/>
          </a:xfrm>
          <a:prstGeom prst="rect">
            <a:avLst/>
          </a:prstGeom>
          <a:solidFill>
            <a:srgbClr val="161D30"/>
          </a:solidFill>
          <a:ln w="12700">
            <a:solidFill>
              <a:srgbClr val="161D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29077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29077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31152" y="290779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62672" y="29077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3337560"/>
            <a:ext cx="3566160" cy="457200"/>
          </a:xfrm>
          <a:prstGeom prst="rect">
            <a:avLst/>
          </a:prstGeom>
          <a:solidFill>
            <a:srgbClr val="1E2740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3383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Diff. Equations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338328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62672" y="3383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66360" y="3886200"/>
            <a:ext cx="1115568" cy="74980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91363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413308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6355080" y="3886200"/>
            <a:ext cx="1115568" cy="74980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391363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55080" y="413308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7543800" y="3886200"/>
            <a:ext cx="1115568" cy="74980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391363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43800" y="413308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42.0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5166360" y="47548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Bar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66360" y="4736592"/>
            <a:ext cx="3566160" cy="13716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66360" y="4736592"/>
            <a:ext cx="3120390" cy="137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CGPA CALCULATOR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GPA Across All Semesters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10312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Multi-Semester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many semesters as needed. Each row takes the semester GPA and total credit hours.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210312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80160"/>
            <a:ext cx="26517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Average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is calculated as a credit-weighted average — more credits means more weight in the final score.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10312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GPA Planner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1920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target CGPA and remaining credits to find exactly what GPA you need in future semesters.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Formula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CGPA  =  Σ (Semester GPA × Semester Credits)  ÷  Σ (All Credits)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462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Sem 1 (GPA 3.5 × 18 CH) + Sem 2 (GPA 3.2 × 15 CH) + Sem 3 (GPA 3.7 × 18 CH)  ÷  51 CH  =  3.49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40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CREDIT HOUR PROGRESS TRACKER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Degree Completion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Mathematics  —  130 Credit Hours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6642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393192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38528"/>
            <a:ext cx="1814732" cy="182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225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3225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393192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96896"/>
            <a:ext cx="725893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Mathematics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9809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55264"/>
            <a:ext cx="393192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255264"/>
            <a:ext cx="725893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Education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36393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393192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13632"/>
            <a:ext cx="544420" cy="18288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/ Capstone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393192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572000"/>
            <a:ext cx="181473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097280"/>
            <a:ext cx="402336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Mathematics  —  36 Credit Hours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16642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Graduate Courses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16642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1938528"/>
            <a:ext cx="38862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1938528"/>
            <a:ext cx="1943100" cy="182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3225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Graduate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26680" y="23225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596896"/>
            <a:ext cx="38862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596896"/>
            <a:ext cx="129540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Thesis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26680" y="29809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3255264"/>
            <a:ext cx="38862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255264"/>
            <a:ext cx="6477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1097280"/>
            <a:ext cx="0" cy="38404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2686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bars update instantly as you enter completed credits. Overall % completion shown with dynamic status messages.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GRADE REFERENCE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4.0 Grade Point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594360" cy="658368"/>
          </a:xfrm>
          <a:prstGeom prst="rect">
            <a:avLst/>
          </a:prstGeom>
          <a:solidFill>
            <a:srgbClr val="48BB78">
              <a:alpha val="80000"/>
            </a:srgbClr>
          </a:solidFill>
          <a:ln w="12700">
            <a:solidFill>
              <a:srgbClr val="48BB78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B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97–100%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298448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298448"/>
            <a:ext cx="594360" cy="658368"/>
          </a:xfrm>
          <a:prstGeom prst="rect">
            <a:avLst/>
          </a:prstGeom>
          <a:solidFill>
            <a:srgbClr val="48BB78">
              <a:alpha val="80000"/>
            </a:srgbClr>
          </a:solidFill>
          <a:ln w="12700">
            <a:solidFill>
              <a:srgbClr val="48BB7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29844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B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21608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pts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1608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93–96%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298448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298448"/>
            <a:ext cx="594360" cy="658368"/>
          </a:xfrm>
          <a:prstGeom prst="rect">
            <a:avLst/>
          </a:prstGeom>
          <a:solidFill>
            <a:srgbClr val="48BB78">
              <a:alpha val="80000"/>
            </a:srgbClr>
          </a:solidFill>
          <a:ln w="12700">
            <a:solidFill>
              <a:srgbClr val="48BB7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B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19088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pts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093976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093976"/>
            <a:ext cx="594360" cy="658368"/>
          </a:xfrm>
          <a:prstGeom prst="rect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939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2167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pts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" y="24414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87–89%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2093976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2093976"/>
            <a:ext cx="594360" cy="658368"/>
          </a:xfrm>
          <a:prstGeom prst="rect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20939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21608" y="2167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pts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21608" y="24414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83–86%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2093976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093976"/>
            <a:ext cx="594360" cy="658368"/>
          </a:xfrm>
          <a:prstGeom prst="rect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0939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19088" y="2167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pts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19088" y="24414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80–82%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889504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889504"/>
            <a:ext cx="594360" cy="658368"/>
          </a:xfrm>
          <a:prstGeom prst="rect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895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24128" y="29626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pts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24128" y="323697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77–79%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63240" y="2889504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63240" y="2889504"/>
            <a:ext cx="594360" cy="658368"/>
          </a:xfrm>
          <a:prstGeom prst="rect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28895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721608" y="29626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pts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721608" y="323697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73–76%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2889504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2889504"/>
            <a:ext cx="594360" cy="658368"/>
          </a:xfrm>
          <a:prstGeom prst="rect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28895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C−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419088" y="29626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pts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419088" y="323697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70–72%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3685032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3685032"/>
            <a:ext cx="594360" cy="6583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8503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024128" y="3758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pts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24128" y="40325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67–69%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063240" y="3685032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63240" y="3685032"/>
            <a:ext cx="594360" cy="6583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63240" y="368503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3721608" y="3758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pts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3721608" y="40325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63–66%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60720" y="3685032"/>
            <a:ext cx="2514600" cy="65836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0" y="3685032"/>
            <a:ext cx="594360" cy="6583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368503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419088" y="3758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pts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419088" y="40325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0–62%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5760" y="4480560"/>
            <a:ext cx="8412480" cy="566928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Standing:  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194560" y="452628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3.8+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19456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Cum Laude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566160" y="452628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3.6+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56616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Cum Laude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937760" y="452628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3.0+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93776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Standing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309360" y="452628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2.0+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30936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680960" y="452628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&lt;2.0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68096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Frontend — Zero Dependencies on Backend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399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single-file HTML structure. No framework overhead.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86200" y="1399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properties, grid, flexbox, animations &amp; dark aesthetic.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399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DOM manipulation, real-time calculation, zero libraries.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5156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Garant (display), DM Sans (body), JetBrains Mono (code).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88620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lives in the browser session. No server, no tracking.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7889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72084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with flexible grid and fluid typography.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START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Calculator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694944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1005840" cy="694944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353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6093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BS Mathematics (130 CH) and MS Mathematics (36 CH) at the top of the page.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694944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1005840" cy="694944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121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Calculator Tab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from: Semester GPA, CGPA Calculator, Credit Progress, or Grade Reference at the top tabs.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8412480" cy="694944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98064"/>
            <a:ext cx="1005840" cy="694944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98064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28895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14553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courses or semesters using the + buttons. Fill in grades, credits, and names as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694944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1005840" cy="694944"/>
          </a:xfrm>
          <a:prstGeom prst="rect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66160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Calculate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9136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gold Calculate button. Results appear with GPA, credits, standing, and visual progress bars.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34256"/>
            <a:ext cx="8412480" cy="694944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334256"/>
            <a:ext cx="1005840" cy="694944"/>
          </a:xfrm>
          <a:prstGeom prst="rect">
            <a:avLst/>
          </a:prstGeom>
          <a:solidFill>
            <a:srgbClr val="48BB78">
              <a:alpha val="15000"/>
            </a:srgbClr>
          </a:solidFill>
          <a:ln w="12700">
            <a:solidFill>
              <a:srgbClr val="48BB78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34256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B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425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4681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CGPA What-If Planner to find the minimum future GPA needed to reach your target CGPA.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24912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1648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752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0224" y="9144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24912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488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74980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08176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66544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58384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3488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50224" y="140817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08176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66544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24912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41648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8384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33488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91856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50224" y="2066544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08176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66544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24912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41648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58384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6752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33488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91856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50224" y="2724912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08176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66544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4912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1648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00016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58384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6752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33488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91856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0224" y="3383280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08176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66544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24912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41648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0016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58384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6752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488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91856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650224" y="4041648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440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8176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66544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24912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41648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00016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58384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16752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33488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91856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50224" y="4700016"/>
            <a:ext cx="36576" cy="36576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18000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5720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C9A227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∑∫∂∇</a:t>
            </a:r>
            <a:endParaRPr lang="en-US" sz="20000" dirty="0"/>
          </a:p>
        </p:txBody>
      </p:sp>
      <p:sp>
        <p:nvSpPr>
          <p:cNvPr id="115" name="Shape 113"/>
          <p:cNvSpPr/>
          <p:nvPr/>
        </p:nvSpPr>
        <p:spPr>
          <a:xfrm>
            <a:off x="640080" y="1280160"/>
            <a:ext cx="64008" cy="2926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2960" y="12618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MATHEMATICS PROGRAM CALCULATOR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22960" y="16459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Academic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Journey, Simplified.</a:t>
            </a:r>
            <a:endParaRPr lang="en-US" sz="4200" dirty="0"/>
          </a:p>
        </p:txBody>
      </p:sp>
      <p:sp>
        <p:nvSpPr>
          <p:cNvPr id="118" name="Text 116"/>
          <p:cNvSpPr/>
          <p:nvPr/>
        </p:nvSpPr>
        <p:spPr>
          <a:xfrm>
            <a:off x="82296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GPA · Monitor Credits · Plan Graduation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lightweight, privacy-first webpage.</a:t>
            </a:r>
            <a:endParaRPr lang="en-US" sz="1500" dirty="0"/>
          </a:p>
        </p:txBody>
      </p:sp>
      <p:sp>
        <p:nvSpPr>
          <p:cNvPr id="119" name="Shape 117"/>
          <p:cNvSpPr/>
          <p:nvPr/>
        </p:nvSpPr>
        <p:spPr>
          <a:xfrm>
            <a:off x="365760" y="4389120"/>
            <a:ext cx="1920240" cy="59436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6576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21" name="Text 119"/>
          <p:cNvSpPr/>
          <p:nvPr/>
        </p:nvSpPr>
        <p:spPr>
          <a:xfrm>
            <a:off x="365760" y="4681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Tabs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2468880" y="4389120"/>
            <a:ext cx="1920240" cy="59436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46888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1800" dirty="0"/>
          </a:p>
        </p:txBody>
      </p:sp>
      <p:sp>
        <p:nvSpPr>
          <p:cNvPr id="124" name="Text 122"/>
          <p:cNvSpPr/>
          <p:nvPr/>
        </p:nvSpPr>
        <p:spPr>
          <a:xfrm>
            <a:off x="2468880" y="4681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GPA Scale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572000" y="4389120"/>
            <a:ext cx="1920240" cy="59436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57200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1800" dirty="0"/>
          </a:p>
        </p:txBody>
      </p:sp>
      <p:sp>
        <p:nvSpPr>
          <p:cNvPr id="127" name="Text 125"/>
          <p:cNvSpPr/>
          <p:nvPr/>
        </p:nvSpPr>
        <p:spPr>
          <a:xfrm>
            <a:off x="4572000" y="4681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Credits Tracked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675120" y="4389120"/>
            <a:ext cx="1920240" cy="594360"/>
          </a:xfrm>
          <a:prstGeom prst="rect">
            <a:avLst/>
          </a:prstGeom>
          <a:solidFill>
            <a:srgbClr val="161D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67512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800" dirty="0"/>
          </a:p>
        </p:txBody>
      </p:sp>
      <p:sp>
        <p:nvSpPr>
          <p:cNvPr id="130" name="Text 128"/>
          <p:cNvSpPr/>
          <p:nvPr/>
        </p:nvSpPr>
        <p:spPr>
          <a:xfrm>
            <a:off x="6675120" y="4681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Credits Tracked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BS/MS Mathematics Program Calculator</dc:title>
  <dc:subject>PptxGenJS Presentation</dc:subject>
  <dc:creator>Math Calculator</dc:creator>
  <cp:lastModifiedBy>Math Calculator</cp:lastModifiedBy>
  <cp:revision>1</cp:revision>
  <dcterms:created xsi:type="dcterms:W3CDTF">2026-05-19T02:51:34Z</dcterms:created>
  <dcterms:modified xsi:type="dcterms:W3CDTF">2026-05-19T02:51:34Z</dcterms:modified>
</cp:coreProperties>
</file>